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68" r:id="rId2"/>
    <p:sldId id="257" r:id="rId3"/>
    <p:sldId id="265" r:id="rId4"/>
    <p:sldId id="266"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8" d="100"/>
          <a:sy n="98" d="100"/>
        </p:scale>
        <p:origin x="110"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469AF50-E8FD-48CC-9BC3-A16C4255174E}" type="datetimeFigureOut">
              <a:rPr lang="en-US" smtClean="0"/>
              <a:t>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41AF7E-50D6-403E-9731-924BA9CEAC58}" type="slidenum">
              <a:rPr lang="en-US" smtClean="0"/>
              <a:t>‹#›</a:t>
            </a:fld>
            <a:endParaRPr lang="en-US"/>
          </a:p>
        </p:txBody>
      </p:sp>
    </p:spTree>
    <p:extLst>
      <p:ext uri="{BB962C8B-B14F-4D97-AF65-F5344CB8AC3E}">
        <p14:creationId xmlns:p14="http://schemas.microsoft.com/office/powerpoint/2010/main" val="263504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6469AF50-E8FD-48CC-9BC3-A16C4255174E}" type="datetimeFigureOut">
              <a:rPr lang="en-US" smtClean="0"/>
              <a:t>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41AF7E-50D6-403E-9731-924BA9CEAC58}" type="slidenum">
              <a:rPr lang="en-US" smtClean="0"/>
              <a:t>‹#›</a:t>
            </a:fld>
            <a:endParaRPr lang="en-US"/>
          </a:p>
        </p:txBody>
      </p:sp>
    </p:spTree>
    <p:extLst>
      <p:ext uri="{BB962C8B-B14F-4D97-AF65-F5344CB8AC3E}">
        <p14:creationId xmlns:p14="http://schemas.microsoft.com/office/powerpoint/2010/main" val="3863815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469AF50-E8FD-48CC-9BC3-A16C4255174E}" type="datetimeFigureOut">
              <a:rPr lang="en-US" smtClean="0"/>
              <a:t>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41AF7E-50D6-403E-9731-924BA9CEAC58}" type="slidenum">
              <a:rPr lang="en-US" smtClean="0"/>
              <a:t>‹#›</a:t>
            </a:fld>
            <a:endParaRPr lang="en-US"/>
          </a:p>
        </p:txBody>
      </p:sp>
    </p:spTree>
    <p:extLst>
      <p:ext uri="{BB962C8B-B14F-4D97-AF65-F5344CB8AC3E}">
        <p14:creationId xmlns:p14="http://schemas.microsoft.com/office/powerpoint/2010/main" val="1556884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469AF50-E8FD-48CC-9BC3-A16C4255174E}" type="datetimeFigureOut">
              <a:rPr lang="en-US" smtClean="0"/>
              <a:t>5/11/2025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41AF7E-50D6-403E-9731-924BA9CEAC58}" type="slidenum">
              <a:rPr lang="en-US" smtClean="0"/>
              <a:t>‹#›</a:t>
            </a:fld>
            <a:endParaRPr lang="en-US"/>
          </a:p>
        </p:txBody>
      </p:sp>
    </p:spTree>
    <p:extLst>
      <p:ext uri="{BB962C8B-B14F-4D97-AF65-F5344CB8AC3E}">
        <p14:creationId xmlns:p14="http://schemas.microsoft.com/office/powerpoint/2010/main" val="39948266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469AF50-E8FD-48CC-9BC3-A16C4255174E}" type="datetimeFigureOut">
              <a:rPr lang="en-US" smtClean="0"/>
              <a:t>5/11/2025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41AF7E-50D6-403E-9731-924BA9CEAC58}" type="slidenum">
              <a:rPr lang="en-US" smtClean="0"/>
              <a:t>‹#›</a:t>
            </a:fld>
            <a:endParaRPr lang="en-US"/>
          </a:p>
        </p:txBody>
      </p:sp>
    </p:spTree>
    <p:extLst>
      <p:ext uri="{BB962C8B-B14F-4D97-AF65-F5344CB8AC3E}">
        <p14:creationId xmlns:p14="http://schemas.microsoft.com/office/powerpoint/2010/main" val="1198845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6469AF50-E8FD-48CC-9BC3-A16C4255174E}" type="datetimeFigureOut">
              <a:rPr lang="en-US" smtClean="0"/>
              <a:t>5/11/2025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2041AF7E-50D6-403E-9731-924BA9CEAC58}" type="slidenum">
              <a:rPr lang="en-US" smtClean="0"/>
              <a:t>‹#›</a:t>
            </a:fld>
            <a:endParaRPr lang="en-US"/>
          </a:p>
        </p:txBody>
      </p:sp>
    </p:spTree>
    <p:extLst>
      <p:ext uri="{BB962C8B-B14F-4D97-AF65-F5344CB8AC3E}">
        <p14:creationId xmlns:p14="http://schemas.microsoft.com/office/powerpoint/2010/main" val="339414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469AF50-E8FD-48CC-9BC3-A16C4255174E}" type="datetimeFigureOut">
              <a:rPr lang="en-US" smtClean="0"/>
              <a:t>5/11/2025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2041AF7E-50D6-403E-9731-924BA9CEAC58}" type="slidenum">
              <a:rPr lang="en-US" smtClean="0"/>
              <a:t>‹#›</a:t>
            </a:fld>
            <a:endParaRPr lang="en-US"/>
          </a:p>
        </p:txBody>
      </p:sp>
    </p:spTree>
    <p:extLst>
      <p:ext uri="{BB962C8B-B14F-4D97-AF65-F5344CB8AC3E}">
        <p14:creationId xmlns:p14="http://schemas.microsoft.com/office/powerpoint/2010/main" val="2534876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6469AF50-E8FD-48CC-9BC3-A16C4255174E}" type="datetimeFigureOut">
              <a:rPr lang="en-US" smtClean="0"/>
              <a:t>5/11/2025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2041AF7E-50D6-403E-9731-924BA9CEAC58}" type="slidenum">
              <a:rPr lang="en-US" smtClean="0"/>
              <a:t>‹#›</a:t>
            </a:fld>
            <a:endParaRPr lang="en-US"/>
          </a:p>
        </p:txBody>
      </p:sp>
    </p:spTree>
    <p:extLst>
      <p:ext uri="{BB962C8B-B14F-4D97-AF65-F5344CB8AC3E}">
        <p14:creationId xmlns:p14="http://schemas.microsoft.com/office/powerpoint/2010/main" val="3363714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469AF50-E8FD-48CC-9BC3-A16C4255174E}" type="datetimeFigureOut">
              <a:rPr lang="en-US" smtClean="0"/>
              <a:t>5/11/2025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41AF7E-50D6-403E-9731-924BA9CEAC58}" type="slidenum">
              <a:rPr lang="en-US" smtClean="0"/>
              <a:t>‹#›</a:t>
            </a:fld>
            <a:endParaRPr lang="en-US"/>
          </a:p>
        </p:txBody>
      </p:sp>
    </p:spTree>
    <p:extLst>
      <p:ext uri="{BB962C8B-B14F-4D97-AF65-F5344CB8AC3E}">
        <p14:creationId xmlns:p14="http://schemas.microsoft.com/office/powerpoint/2010/main" val="4047854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469AF50-E8FD-48CC-9BC3-A16C4255174E}" type="datetimeFigureOut">
              <a:rPr lang="en-US" smtClean="0"/>
              <a:t>5/11/2025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41AF7E-50D6-403E-9731-924BA9CEAC58}" type="slidenum">
              <a:rPr lang="en-US" smtClean="0"/>
              <a:t>‹#›</a:t>
            </a:fld>
            <a:endParaRPr lang="en-US"/>
          </a:p>
        </p:txBody>
      </p:sp>
    </p:spTree>
    <p:extLst>
      <p:ext uri="{BB962C8B-B14F-4D97-AF65-F5344CB8AC3E}">
        <p14:creationId xmlns:p14="http://schemas.microsoft.com/office/powerpoint/2010/main" val="1306060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6469AF50-E8FD-48CC-9BC3-A16C4255174E}" type="datetimeFigureOut">
              <a:rPr lang="en-US" smtClean="0"/>
              <a:t>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41AF7E-50D6-403E-9731-924BA9CEAC58}" type="slidenum">
              <a:rPr lang="en-US" smtClean="0"/>
              <a:t>‹#›</a:t>
            </a:fld>
            <a:endParaRPr lang="en-US"/>
          </a:p>
        </p:txBody>
      </p:sp>
    </p:spTree>
    <p:extLst>
      <p:ext uri="{BB962C8B-B14F-4D97-AF65-F5344CB8AC3E}">
        <p14:creationId xmlns:p14="http://schemas.microsoft.com/office/powerpoint/2010/main" val="10601316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6469AF50-E8FD-48CC-9BC3-A16C4255174E}" type="datetimeFigureOut">
              <a:rPr lang="en-US" smtClean="0"/>
              <a:t>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41AF7E-50D6-403E-9731-924BA9CEAC58}"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89534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469AF50-E8FD-48CC-9BC3-A16C4255174E}" type="datetimeFigureOut">
              <a:rPr lang="en-US" smtClean="0"/>
              <a:t>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41AF7E-50D6-403E-9731-924BA9CEAC58}" type="slidenum">
              <a:rPr lang="en-US" smtClean="0"/>
              <a:t>‹#›</a:t>
            </a:fld>
            <a:endParaRPr lang="en-US"/>
          </a:p>
        </p:txBody>
      </p:sp>
    </p:spTree>
    <p:extLst>
      <p:ext uri="{BB962C8B-B14F-4D97-AF65-F5344CB8AC3E}">
        <p14:creationId xmlns:p14="http://schemas.microsoft.com/office/powerpoint/2010/main" val="738496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469AF50-E8FD-48CC-9BC3-A16C4255174E}" type="datetimeFigureOut">
              <a:rPr lang="en-US" smtClean="0"/>
              <a:t>5/11/2025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41AF7E-50D6-403E-9731-924BA9CEAC58}" type="slidenum">
              <a:rPr lang="en-US" smtClean="0"/>
              <a:t>‹#›</a:t>
            </a:fld>
            <a:endParaRPr lang="en-US"/>
          </a:p>
        </p:txBody>
      </p:sp>
    </p:spTree>
    <p:extLst>
      <p:ext uri="{BB962C8B-B14F-4D97-AF65-F5344CB8AC3E}">
        <p14:creationId xmlns:p14="http://schemas.microsoft.com/office/powerpoint/2010/main" val="16201872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469AF50-E8FD-48CC-9BC3-A16C4255174E}" type="datetimeFigureOut">
              <a:rPr lang="en-US" smtClean="0"/>
              <a:t>5/11/2025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41AF7E-50D6-403E-9731-924BA9CEAC58}" type="slidenum">
              <a:rPr lang="en-US" smtClean="0"/>
              <a:t>‹#›</a:t>
            </a:fld>
            <a:endParaRPr lang="en-US"/>
          </a:p>
        </p:txBody>
      </p:sp>
    </p:spTree>
    <p:extLst>
      <p:ext uri="{BB962C8B-B14F-4D97-AF65-F5344CB8AC3E}">
        <p14:creationId xmlns:p14="http://schemas.microsoft.com/office/powerpoint/2010/main" val="2699851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69AF50-E8FD-48CC-9BC3-A16C4255174E}" type="datetimeFigureOut">
              <a:rPr lang="en-US" smtClean="0"/>
              <a:t>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41AF7E-50D6-403E-9731-924BA9CEAC58}" type="slidenum">
              <a:rPr lang="en-US" smtClean="0"/>
              <a:t>‹#›</a:t>
            </a:fld>
            <a:endParaRPr lang="en-US"/>
          </a:p>
        </p:txBody>
      </p:sp>
    </p:spTree>
    <p:extLst>
      <p:ext uri="{BB962C8B-B14F-4D97-AF65-F5344CB8AC3E}">
        <p14:creationId xmlns:p14="http://schemas.microsoft.com/office/powerpoint/2010/main" val="34405757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69AF50-E8FD-48CC-9BC3-A16C4255174E}" type="datetimeFigureOut">
              <a:rPr lang="en-US" smtClean="0"/>
              <a:t>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41AF7E-50D6-403E-9731-924BA9CEAC58}" type="slidenum">
              <a:rPr lang="en-US" smtClean="0"/>
              <a:t>‹#›</a:t>
            </a:fld>
            <a:endParaRPr lang="en-US"/>
          </a:p>
        </p:txBody>
      </p:sp>
    </p:spTree>
    <p:extLst>
      <p:ext uri="{BB962C8B-B14F-4D97-AF65-F5344CB8AC3E}">
        <p14:creationId xmlns:p14="http://schemas.microsoft.com/office/powerpoint/2010/main" val="609794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469AF50-E8FD-48CC-9BC3-A16C4255174E}" type="datetimeFigureOut">
              <a:rPr lang="en-US" smtClean="0"/>
              <a:t>5/11/2025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041AF7E-50D6-403E-9731-924BA9CEAC58}" type="slidenum">
              <a:rPr lang="en-US" smtClean="0"/>
              <a:t>‹#›</a:t>
            </a:fld>
            <a:endParaRPr lang="en-US"/>
          </a:p>
        </p:txBody>
      </p:sp>
    </p:spTree>
    <p:extLst>
      <p:ext uri="{BB962C8B-B14F-4D97-AF65-F5344CB8AC3E}">
        <p14:creationId xmlns:p14="http://schemas.microsoft.com/office/powerpoint/2010/main" val="3290555068"/>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919E8-E956-4535-B56D-018DCE37384B}"/>
              </a:ext>
            </a:extLst>
          </p:cNvPr>
          <p:cNvSpPr>
            <a:spLocks noGrp="1"/>
          </p:cNvSpPr>
          <p:nvPr>
            <p:ph type="title"/>
          </p:nvPr>
        </p:nvSpPr>
        <p:spPr>
          <a:xfrm>
            <a:off x="646111" y="452718"/>
            <a:ext cx="5861221" cy="932199"/>
          </a:xfrm>
        </p:spPr>
        <p:txBody>
          <a:bodyPr/>
          <a:lstStyle/>
          <a:p>
            <a:r>
              <a:rPr lang="en-IN" sz="4400" b="1" dirty="0">
                <a:solidFill>
                  <a:srgbClr val="FFC000"/>
                </a:solidFill>
                <a:latin typeface="Arial Rounded MT Bold" panose="020F0704030504030204" pitchFamily="34" charset="0"/>
                <a:ea typeface="Segoe UI Black" panose="020B0A02040204020203" pitchFamily="34" charset="0"/>
              </a:rPr>
              <a:t>STEPS IN PROJECT</a:t>
            </a:r>
            <a:br>
              <a:rPr lang="en-IN" sz="4400" b="1" dirty="0">
                <a:solidFill>
                  <a:schemeClr val="accent4">
                    <a:lumMod val="60000"/>
                    <a:lumOff val="40000"/>
                  </a:schemeClr>
                </a:solidFill>
                <a:latin typeface="Arial Rounded MT Bold" panose="020F0704030504030204" pitchFamily="34" charset="0"/>
                <a:ea typeface="Segoe UI Black" panose="020B0A02040204020203" pitchFamily="34" charset="0"/>
              </a:rPr>
            </a:br>
            <a:endParaRPr lang="en-US" dirty="0"/>
          </a:p>
        </p:txBody>
      </p:sp>
      <p:sp>
        <p:nvSpPr>
          <p:cNvPr id="3" name="Content Placeholder 2">
            <a:extLst>
              <a:ext uri="{FF2B5EF4-FFF2-40B4-BE49-F238E27FC236}">
                <a16:creationId xmlns:a16="http://schemas.microsoft.com/office/drawing/2014/main" id="{70FC9F92-E3E5-46BB-96CB-AA1B87EA32A4}"/>
              </a:ext>
            </a:extLst>
          </p:cNvPr>
          <p:cNvSpPr>
            <a:spLocks noGrp="1"/>
          </p:cNvSpPr>
          <p:nvPr>
            <p:ph idx="1"/>
          </p:nvPr>
        </p:nvSpPr>
        <p:spPr>
          <a:xfrm>
            <a:off x="1103312" y="1615736"/>
            <a:ext cx="8946541" cy="4632663"/>
          </a:xfrm>
        </p:spPr>
        <p:txBody>
          <a:bodyPr>
            <a:normAutofit fontScale="92500" lnSpcReduction="10000"/>
          </a:bodyPr>
          <a:lstStyle/>
          <a:p>
            <a:pPr lvl="0" defTabSz="914400" eaLnBrk="0" fontAlgn="base" hangingPunct="0">
              <a:lnSpc>
                <a:spcPct val="150000"/>
              </a:lnSpc>
              <a:spcBef>
                <a:spcPct val="0"/>
              </a:spcBef>
              <a:spcAft>
                <a:spcPct val="0"/>
              </a:spcAft>
              <a:buClrTx/>
              <a:buSzTx/>
              <a:buFont typeface="Wingdings" panose="05000000000000000000" pitchFamily="2" charset="2"/>
              <a:buChar char="ü"/>
            </a:pPr>
            <a:r>
              <a:rPr lang="en-US" altLang="en-US" b="1" dirty="0">
                <a:solidFill>
                  <a:schemeClr val="accent1">
                    <a:lumMod val="20000"/>
                    <a:lumOff val="80000"/>
                  </a:schemeClr>
                </a:solidFill>
                <a:latin typeface="Arial" panose="020B0604020202020204" pitchFamily="34" charset="0"/>
              </a:rPr>
              <a:t>Requirement Gathering/ Business Requirements</a:t>
            </a:r>
          </a:p>
          <a:p>
            <a:pPr lvl="0" defTabSz="914400" eaLnBrk="0" fontAlgn="base" hangingPunct="0">
              <a:lnSpc>
                <a:spcPct val="150000"/>
              </a:lnSpc>
              <a:spcBef>
                <a:spcPct val="0"/>
              </a:spcBef>
              <a:spcAft>
                <a:spcPct val="0"/>
              </a:spcAft>
              <a:buClrTx/>
              <a:buSzTx/>
              <a:buFont typeface="Wingdings" panose="05000000000000000000" pitchFamily="2" charset="2"/>
              <a:buChar char="ü"/>
            </a:pPr>
            <a:r>
              <a:rPr lang="en-US" altLang="en-US" b="1" dirty="0">
                <a:solidFill>
                  <a:schemeClr val="accent1">
                    <a:lumMod val="20000"/>
                    <a:lumOff val="80000"/>
                  </a:schemeClr>
                </a:solidFill>
                <a:latin typeface="Arial" panose="020B0604020202020204" pitchFamily="34" charset="0"/>
              </a:rPr>
              <a:t>Data Walkthrough</a:t>
            </a:r>
          </a:p>
          <a:p>
            <a:pPr lvl="0" defTabSz="914400" eaLnBrk="0" fontAlgn="base" hangingPunct="0">
              <a:lnSpc>
                <a:spcPct val="150000"/>
              </a:lnSpc>
              <a:spcBef>
                <a:spcPct val="0"/>
              </a:spcBef>
              <a:spcAft>
                <a:spcPct val="0"/>
              </a:spcAft>
              <a:buClrTx/>
              <a:buSzTx/>
              <a:buFont typeface="Wingdings" panose="05000000000000000000" pitchFamily="2" charset="2"/>
              <a:buChar char="ü"/>
            </a:pPr>
            <a:r>
              <a:rPr lang="en-US" altLang="en-US" b="1" dirty="0">
                <a:solidFill>
                  <a:schemeClr val="accent1">
                    <a:lumMod val="20000"/>
                    <a:lumOff val="80000"/>
                  </a:schemeClr>
                </a:solidFill>
                <a:latin typeface="Arial" panose="020B0604020202020204" pitchFamily="34" charset="0"/>
              </a:rPr>
              <a:t>Data Connection</a:t>
            </a:r>
          </a:p>
          <a:p>
            <a:pPr lvl="0" defTabSz="914400" eaLnBrk="0" fontAlgn="base" hangingPunct="0">
              <a:lnSpc>
                <a:spcPct val="150000"/>
              </a:lnSpc>
              <a:spcBef>
                <a:spcPct val="0"/>
              </a:spcBef>
              <a:spcAft>
                <a:spcPct val="0"/>
              </a:spcAft>
              <a:buClrTx/>
              <a:buSzTx/>
              <a:buFont typeface="Wingdings" panose="05000000000000000000" pitchFamily="2" charset="2"/>
              <a:buChar char="ü"/>
            </a:pPr>
            <a:r>
              <a:rPr lang="en-US" altLang="en-US" b="1" dirty="0">
                <a:solidFill>
                  <a:schemeClr val="accent1">
                    <a:lumMod val="20000"/>
                    <a:lumOff val="80000"/>
                  </a:schemeClr>
                </a:solidFill>
                <a:latin typeface="Arial" panose="020B0604020202020204" pitchFamily="34" charset="0"/>
              </a:rPr>
              <a:t>Data Cleaning / Quality Check</a:t>
            </a:r>
          </a:p>
          <a:p>
            <a:pPr lvl="0" defTabSz="914400" eaLnBrk="0" fontAlgn="base" hangingPunct="0">
              <a:lnSpc>
                <a:spcPct val="150000"/>
              </a:lnSpc>
              <a:spcBef>
                <a:spcPct val="0"/>
              </a:spcBef>
              <a:spcAft>
                <a:spcPct val="0"/>
              </a:spcAft>
              <a:buClrTx/>
              <a:buSzTx/>
              <a:buFont typeface="Wingdings" panose="05000000000000000000" pitchFamily="2" charset="2"/>
              <a:buChar char="ü"/>
            </a:pPr>
            <a:r>
              <a:rPr lang="en-US" altLang="en-US" b="1" dirty="0">
                <a:solidFill>
                  <a:schemeClr val="accent1">
                    <a:lumMod val="20000"/>
                    <a:lumOff val="80000"/>
                  </a:schemeClr>
                </a:solidFill>
                <a:latin typeface="Arial" panose="020B0604020202020204" pitchFamily="34" charset="0"/>
              </a:rPr>
              <a:t>Data Modeling</a:t>
            </a:r>
          </a:p>
          <a:p>
            <a:pPr lvl="0" defTabSz="914400" eaLnBrk="0" fontAlgn="base" hangingPunct="0">
              <a:lnSpc>
                <a:spcPct val="150000"/>
              </a:lnSpc>
              <a:spcBef>
                <a:spcPct val="0"/>
              </a:spcBef>
              <a:spcAft>
                <a:spcPct val="0"/>
              </a:spcAft>
              <a:buClrTx/>
              <a:buSzTx/>
              <a:buFont typeface="Wingdings" panose="05000000000000000000" pitchFamily="2" charset="2"/>
              <a:buChar char="ü"/>
            </a:pPr>
            <a:r>
              <a:rPr lang="en-US" altLang="en-US" b="1" dirty="0">
                <a:solidFill>
                  <a:schemeClr val="accent1">
                    <a:lumMod val="20000"/>
                    <a:lumOff val="80000"/>
                  </a:schemeClr>
                </a:solidFill>
                <a:latin typeface="Arial" panose="020B0604020202020204" pitchFamily="34" charset="0"/>
              </a:rPr>
              <a:t>Data Processing</a:t>
            </a:r>
          </a:p>
          <a:p>
            <a:pPr lvl="0" defTabSz="914400" eaLnBrk="0" fontAlgn="base" hangingPunct="0">
              <a:lnSpc>
                <a:spcPct val="150000"/>
              </a:lnSpc>
              <a:spcBef>
                <a:spcPct val="0"/>
              </a:spcBef>
              <a:spcAft>
                <a:spcPct val="0"/>
              </a:spcAft>
              <a:buClrTx/>
              <a:buSzTx/>
              <a:buFont typeface="Wingdings" panose="05000000000000000000" pitchFamily="2" charset="2"/>
              <a:buChar char="ü"/>
            </a:pPr>
            <a:r>
              <a:rPr lang="en-US" altLang="en-US" b="1" dirty="0">
                <a:solidFill>
                  <a:schemeClr val="accent1">
                    <a:lumMod val="20000"/>
                    <a:lumOff val="80000"/>
                  </a:schemeClr>
                </a:solidFill>
                <a:latin typeface="Arial" panose="020B0604020202020204" pitchFamily="34" charset="0"/>
              </a:rPr>
              <a:t>DAX Calculations</a:t>
            </a:r>
          </a:p>
          <a:p>
            <a:pPr lvl="0" defTabSz="914400" eaLnBrk="0" fontAlgn="base" hangingPunct="0">
              <a:lnSpc>
                <a:spcPct val="150000"/>
              </a:lnSpc>
              <a:spcBef>
                <a:spcPct val="0"/>
              </a:spcBef>
              <a:spcAft>
                <a:spcPct val="0"/>
              </a:spcAft>
              <a:buClrTx/>
              <a:buSzTx/>
              <a:buFont typeface="Wingdings" panose="05000000000000000000" pitchFamily="2" charset="2"/>
              <a:buChar char="ü"/>
            </a:pPr>
            <a:r>
              <a:rPr lang="en-US" altLang="en-US" b="1" dirty="0">
                <a:solidFill>
                  <a:schemeClr val="accent1">
                    <a:lumMod val="20000"/>
                    <a:lumOff val="80000"/>
                  </a:schemeClr>
                </a:solidFill>
                <a:latin typeface="Arial" panose="020B0604020202020204" pitchFamily="34" charset="0"/>
              </a:rPr>
              <a:t>Dashboard Lay outing</a:t>
            </a:r>
          </a:p>
          <a:p>
            <a:pPr lvl="0" defTabSz="914400" eaLnBrk="0" fontAlgn="base" hangingPunct="0">
              <a:lnSpc>
                <a:spcPct val="150000"/>
              </a:lnSpc>
              <a:spcBef>
                <a:spcPct val="0"/>
              </a:spcBef>
              <a:spcAft>
                <a:spcPct val="0"/>
              </a:spcAft>
              <a:buClrTx/>
              <a:buSzTx/>
              <a:buFont typeface="Wingdings" panose="05000000000000000000" pitchFamily="2" charset="2"/>
              <a:buChar char="ü"/>
            </a:pPr>
            <a:r>
              <a:rPr lang="en-US" altLang="en-US" b="1" dirty="0">
                <a:solidFill>
                  <a:schemeClr val="accent1">
                    <a:lumMod val="20000"/>
                    <a:lumOff val="80000"/>
                  </a:schemeClr>
                </a:solidFill>
                <a:latin typeface="Arial" panose="020B0604020202020204" pitchFamily="34" charset="0"/>
              </a:rPr>
              <a:t>Charts Development and Formatting</a:t>
            </a:r>
          </a:p>
          <a:p>
            <a:pPr lvl="0" defTabSz="914400" eaLnBrk="0" fontAlgn="base" hangingPunct="0">
              <a:lnSpc>
                <a:spcPct val="150000"/>
              </a:lnSpc>
              <a:spcBef>
                <a:spcPct val="0"/>
              </a:spcBef>
              <a:spcAft>
                <a:spcPct val="0"/>
              </a:spcAft>
              <a:buClrTx/>
              <a:buSzTx/>
              <a:buFont typeface="Wingdings" panose="05000000000000000000" pitchFamily="2" charset="2"/>
              <a:buChar char="ü"/>
            </a:pPr>
            <a:r>
              <a:rPr lang="en-US" altLang="en-US" b="1" dirty="0">
                <a:solidFill>
                  <a:schemeClr val="accent1">
                    <a:lumMod val="20000"/>
                    <a:lumOff val="80000"/>
                  </a:schemeClr>
                </a:solidFill>
                <a:latin typeface="Arial" panose="020B0604020202020204" pitchFamily="34" charset="0"/>
              </a:rPr>
              <a:t>Dashboard / Report Development</a:t>
            </a:r>
          </a:p>
          <a:p>
            <a:pPr lvl="0" defTabSz="914400" eaLnBrk="0" fontAlgn="base" hangingPunct="0">
              <a:lnSpc>
                <a:spcPct val="150000"/>
              </a:lnSpc>
              <a:spcBef>
                <a:spcPct val="0"/>
              </a:spcBef>
              <a:spcAft>
                <a:spcPct val="0"/>
              </a:spcAft>
              <a:buClrTx/>
              <a:buSzTx/>
              <a:buFont typeface="Wingdings" panose="05000000000000000000" pitchFamily="2" charset="2"/>
              <a:buChar char="ü"/>
            </a:pPr>
            <a:r>
              <a:rPr lang="en-US" altLang="en-US" b="1" dirty="0">
                <a:solidFill>
                  <a:schemeClr val="accent1">
                    <a:lumMod val="20000"/>
                    <a:lumOff val="80000"/>
                  </a:schemeClr>
                </a:solidFill>
                <a:latin typeface="Arial" panose="020B0604020202020204" pitchFamily="34" charset="0"/>
              </a:rPr>
              <a:t>Insights Generation</a:t>
            </a:r>
          </a:p>
          <a:p>
            <a:endParaRPr lang="en-US" dirty="0"/>
          </a:p>
        </p:txBody>
      </p:sp>
    </p:spTree>
    <p:extLst>
      <p:ext uri="{BB962C8B-B14F-4D97-AF65-F5344CB8AC3E}">
        <p14:creationId xmlns:p14="http://schemas.microsoft.com/office/powerpoint/2010/main" val="31291921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FAAA4-35D8-440D-9AB3-EBCF9993BEB1}"/>
              </a:ext>
            </a:extLst>
          </p:cNvPr>
          <p:cNvSpPr>
            <a:spLocks noGrp="1"/>
          </p:cNvSpPr>
          <p:nvPr>
            <p:ph type="title"/>
          </p:nvPr>
        </p:nvSpPr>
        <p:spPr/>
        <p:txBody>
          <a:bodyPr/>
          <a:lstStyle/>
          <a:p>
            <a:r>
              <a:rPr lang="en-US" dirty="0">
                <a:solidFill>
                  <a:srgbClr val="FFC000"/>
                </a:solidFill>
              </a:rPr>
              <a:t>Customer Segmentation</a:t>
            </a:r>
            <a:br>
              <a:rPr lang="en-US" dirty="0">
                <a:solidFill>
                  <a:srgbClr val="FFC000"/>
                </a:solidFill>
              </a:rPr>
            </a:br>
            <a:r>
              <a:rPr lang="en-US" dirty="0">
                <a:solidFill>
                  <a:srgbClr val="FFC000"/>
                </a:solidFill>
              </a:rPr>
              <a:t>Analysis</a:t>
            </a:r>
            <a:endParaRPr lang="en-US" dirty="0"/>
          </a:p>
        </p:txBody>
      </p:sp>
      <p:sp>
        <p:nvSpPr>
          <p:cNvPr id="3" name="Content Placeholder 2">
            <a:extLst>
              <a:ext uri="{FF2B5EF4-FFF2-40B4-BE49-F238E27FC236}">
                <a16:creationId xmlns:a16="http://schemas.microsoft.com/office/drawing/2014/main" id="{4F42A8C5-24A5-4DEF-9BA5-83917A41F747}"/>
              </a:ext>
            </a:extLst>
          </p:cNvPr>
          <p:cNvSpPr>
            <a:spLocks noGrp="1"/>
          </p:cNvSpPr>
          <p:nvPr>
            <p:ph idx="1"/>
          </p:nvPr>
        </p:nvSpPr>
        <p:spPr>
          <a:xfrm>
            <a:off x="1103312" y="1853248"/>
            <a:ext cx="8946541" cy="5004752"/>
          </a:xfrm>
        </p:spPr>
        <p:txBody>
          <a:bodyPr>
            <a:normAutofit fontScale="47500" lnSpcReduction="20000"/>
          </a:bodyPr>
          <a:lstStyle/>
          <a:p>
            <a:pPr marL="342900" indent="-342900"/>
            <a:endParaRPr lang="en-US" dirty="0"/>
          </a:p>
          <a:p>
            <a:pPr>
              <a:buFont typeface="Wingdings" panose="05000000000000000000" pitchFamily="2" charset="2"/>
              <a:buChar char="v"/>
            </a:pPr>
            <a:r>
              <a:rPr lang="en-US" sz="2900" dirty="0">
                <a:latin typeface="Segoe UI Semibold" panose="020B0702040204020203" pitchFamily="34" charset="0"/>
                <a:cs typeface="Segoe UI Semibold" panose="020B0702040204020203" pitchFamily="34" charset="0"/>
              </a:rPr>
              <a:t>How is the shopping distribution according to gender?</a:t>
            </a:r>
          </a:p>
          <a:p>
            <a:r>
              <a:rPr lang="en-US" sz="2800" b="1" u="sng" dirty="0">
                <a:latin typeface="Segoe UI Semibold" panose="020B0702040204020203" pitchFamily="34" charset="0"/>
                <a:cs typeface="Segoe UI Semibold" panose="020B0702040204020203" pitchFamily="34" charset="0"/>
              </a:rPr>
              <a:t>Visualization: </a:t>
            </a:r>
            <a:r>
              <a:rPr lang="en-US" sz="3200" dirty="0"/>
              <a:t>Pie chart </a:t>
            </a:r>
          </a:p>
          <a:p>
            <a:r>
              <a:rPr lang="en-US" sz="2800" b="1" u="sng" dirty="0">
                <a:latin typeface="Segoe UI Semibold" panose="020B0702040204020203" pitchFamily="34" charset="0"/>
                <a:cs typeface="Segoe UI Semibold" panose="020B0702040204020203" pitchFamily="34" charset="0"/>
              </a:rPr>
              <a:t>Description: </a:t>
            </a:r>
            <a:r>
              <a:rPr lang="en-US" sz="3200" dirty="0"/>
              <a:t>a pie chart that shows the distribution between male and female customers this makes it easy to understand how shopping behavior by gender.</a:t>
            </a:r>
          </a:p>
          <a:p>
            <a:pPr marL="0" indent="0">
              <a:buNone/>
            </a:pPr>
            <a:r>
              <a:rPr lang="en-US" sz="3200" dirty="0"/>
              <a:t> </a:t>
            </a:r>
          </a:p>
          <a:p>
            <a:pPr>
              <a:buFont typeface="Wingdings" panose="05000000000000000000" pitchFamily="2" charset="2"/>
              <a:buChar char="v"/>
            </a:pPr>
            <a:r>
              <a:rPr lang="en-US" sz="2900" dirty="0">
                <a:latin typeface="Segoe UI Semibold" panose="020B0702040204020203" pitchFamily="34" charset="0"/>
                <a:cs typeface="Segoe UI Semibold" panose="020B0702040204020203" pitchFamily="34" charset="0"/>
              </a:rPr>
              <a:t>Which gender did we sell more products to?</a:t>
            </a:r>
          </a:p>
          <a:p>
            <a:r>
              <a:rPr lang="en-US" sz="2900" b="1" u="sng" dirty="0">
                <a:latin typeface="Segoe UI Semibold" panose="020B0702040204020203" pitchFamily="34" charset="0"/>
                <a:cs typeface="Segoe UI Semibold" panose="020B0702040204020203" pitchFamily="34" charset="0"/>
              </a:rPr>
              <a:t>Visualization: </a:t>
            </a:r>
            <a:r>
              <a:rPr lang="en-US" sz="2900" dirty="0"/>
              <a:t>Pie chart </a:t>
            </a:r>
          </a:p>
          <a:p>
            <a:r>
              <a:rPr lang="en-US" sz="2900" b="1" u="sng" dirty="0">
                <a:latin typeface="Segoe UI Semibold" panose="020B0702040204020203" pitchFamily="34" charset="0"/>
                <a:cs typeface="Segoe UI Semibold" panose="020B0702040204020203" pitchFamily="34" charset="0"/>
              </a:rPr>
              <a:t>Description:</a:t>
            </a:r>
            <a:r>
              <a:rPr lang="en-US" sz="2900" u="sng" dirty="0">
                <a:latin typeface="Segoe UI Semibold" panose="020B0702040204020203" pitchFamily="34" charset="0"/>
                <a:cs typeface="Segoe UI Semibold" panose="020B0702040204020203" pitchFamily="34" charset="0"/>
              </a:rPr>
              <a:t> </a:t>
            </a:r>
            <a:r>
              <a:rPr lang="en-US" sz="2900" dirty="0"/>
              <a:t>shows product sales segmented by gender This helps us quickly identify which gender has a higher purchase volume These insights are valuable for understanding how to tailor targeted marketing or adjust product strategy.</a:t>
            </a:r>
          </a:p>
          <a:p>
            <a:pPr marL="0" indent="0">
              <a:buNone/>
            </a:pPr>
            <a:endParaRPr lang="en-US" dirty="0"/>
          </a:p>
          <a:p>
            <a:pPr>
              <a:buFont typeface="Wingdings" panose="05000000000000000000" pitchFamily="2" charset="2"/>
              <a:buChar char="v"/>
            </a:pPr>
            <a:r>
              <a:rPr lang="en-US" sz="2900" dirty="0">
                <a:latin typeface="Segoe UI Semibold" panose="020B0702040204020203" pitchFamily="34" charset="0"/>
                <a:cs typeface="Segoe UI Semibold" panose="020B0702040204020203" pitchFamily="34" charset="0"/>
              </a:rPr>
              <a:t>Which gender generated more revenue?</a:t>
            </a:r>
          </a:p>
          <a:p>
            <a:r>
              <a:rPr lang="en-US" sz="2900" b="1" u="sng" dirty="0">
                <a:latin typeface="Segoe UI Semibold" panose="020B0702040204020203" pitchFamily="34" charset="0"/>
                <a:cs typeface="Segoe UI Semibold" panose="020B0702040204020203" pitchFamily="34" charset="0"/>
              </a:rPr>
              <a:t>Visualization: </a:t>
            </a:r>
            <a:r>
              <a:rPr lang="en-US" sz="2900" b="1" dirty="0">
                <a:latin typeface="+mj-lt"/>
              </a:rPr>
              <a:t>Stacked column chart</a:t>
            </a:r>
          </a:p>
          <a:p>
            <a:r>
              <a:rPr lang="en-US" sz="2900" b="1" u="sng" dirty="0">
                <a:latin typeface="Segoe UI Semibold" panose="020B0702040204020203" pitchFamily="34" charset="0"/>
                <a:cs typeface="Segoe UI Semibold" panose="020B0702040204020203" pitchFamily="34" charset="0"/>
              </a:rPr>
              <a:t>Description: </a:t>
            </a:r>
            <a:r>
              <a:rPr lang="en-US" sz="2900" dirty="0"/>
              <a:t>a column chart that clearly shows the revenue generated by each gender for this visualization you can easily see which gender contributed more to overall revenue.</a:t>
            </a:r>
            <a:br>
              <a:rPr lang="en-US" dirty="0"/>
            </a:br>
            <a:endParaRPr lang="en-US" sz="3200" dirty="0"/>
          </a:p>
          <a:p>
            <a:endParaRPr lang="en-US" dirty="0"/>
          </a:p>
        </p:txBody>
      </p:sp>
      <p:pic>
        <p:nvPicPr>
          <p:cNvPr id="6" name="Picture 5">
            <a:extLst>
              <a:ext uri="{FF2B5EF4-FFF2-40B4-BE49-F238E27FC236}">
                <a16:creationId xmlns:a16="http://schemas.microsoft.com/office/drawing/2014/main" id="{325F0EED-E886-4BFE-AEA7-10C389C259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8120" y="306605"/>
            <a:ext cx="1849350" cy="169275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98518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42A8C5-24A5-4DEF-9BA5-83917A41F747}"/>
              </a:ext>
            </a:extLst>
          </p:cNvPr>
          <p:cNvSpPr>
            <a:spLocks noGrp="1"/>
          </p:cNvSpPr>
          <p:nvPr>
            <p:ph idx="1"/>
          </p:nvPr>
        </p:nvSpPr>
        <p:spPr>
          <a:xfrm>
            <a:off x="838200" y="221942"/>
            <a:ext cx="10515600" cy="5955021"/>
          </a:xfrm>
        </p:spPr>
        <p:txBody>
          <a:bodyPr>
            <a:normAutofit fontScale="55000" lnSpcReduction="20000"/>
          </a:bodyPr>
          <a:lstStyle/>
          <a:p>
            <a:pPr>
              <a:buFont typeface="Wingdings" panose="05000000000000000000" pitchFamily="2" charset="2"/>
              <a:buChar char="v"/>
            </a:pPr>
            <a:r>
              <a:rPr lang="en-US" sz="2600" dirty="0">
                <a:solidFill>
                  <a:schemeClr val="tx1"/>
                </a:solidFill>
                <a:latin typeface="Segoe UI Semibold" panose="020B0702040204020203" pitchFamily="34" charset="0"/>
                <a:cs typeface="Segoe UI Semibold" panose="020B0702040204020203" pitchFamily="34" charset="0"/>
              </a:rPr>
              <a:t>Distribution of purchase categories relative to other columns?</a:t>
            </a:r>
          </a:p>
          <a:p>
            <a:r>
              <a:rPr lang="en-US" sz="2600" dirty="0">
                <a:solidFill>
                  <a:schemeClr val="tx1"/>
                </a:solidFill>
              </a:rPr>
              <a:t>I have visualized how different purchase categories relate to other key dimensions </a:t>
            </a:r>
          </a:p>
          <a:p>
            <a:pPr marL="457200" indent="-457200">
              <a:buFont typeface="+mj-lt"/>
              <a:buAutoNum type="arabicPeriod"/>
            </a:pPr>
            <a:r>
              <a:rPr lang="en-US" sz="2600" dirty="0">
                <a:solidFill>
                  <a:schemeClr val="tx1"/>
                </a:solidFill>
              </a:rPr>
              <a:t>category wise gender sales </a:t>
            </a:r>
          </a:p>
          <a:p>
            <a:pPr marL="457200" indent="-457200">
              <a:buFont typeface="+mj-lt"/>
              <a:buAutoNum type="arabicPeriod"/>
            </a:pPr>
            <a:r>
              <a:rPr lang="en-US" sz="2600" dirty="0">
                <a:solidFill>
                  <a:schemeClr val="tx1"/>
                </a:solidFill>
              </a:rPr>
              <a:t>category wise payment method </a:t>
            </a:r>
          </a:p>
          <a:p>
            <a:pPr marL="457200" indent="-457200">
              <a:buFont typeface="+mj-lt"/>
              <a:buAutoNum type="arabicPeriod"/>
            </a:pPr>
            <a:r>
              <a:rPr lang="en-US" sz="2600" dirty="0">
                <a:solidFill>
                  <a:schemeClr val="tx1"/>
                </a:solidFill>
              </a:rPr>
              <a:t>category wise age group </a:t>
            </a:r>
          </a:p>
          <a:p>
            <a:pPr marL="457200" indent="-457200">
              <a:buFont typeface="+mj-lt"/>
              <a:buAutoNum type="arabicPeriod"/>
            </a:pPr>
            <a:r>
              <a:rPr lang="en-US" sz="2600" dirty="0">
                <a:solidFill>
                  <a:schemeClr val="tx1"/>
                </a:solidFill>
              </a:rPr>
              <a:t>category wise shopping mall </a:t>
            </a:r>
          </a:p>
          <a:p>
            <a:r>
              <a:rPr lang="en-US" sz="2600" b="1" u="sng" dirty="0">
                <a:solidFill>
                  <a:schemeClr val="tx1"/>
                </a:solidFill>
                <a:latin typeface="Segoe UI Semibold" panose="020B0702040204020203" pitchFamily="34" charset="0"/>
                <a:cs typeface="Segoe UI Semibold" panose="020B0702040204020203" pitchFamily="34" charset="0"/>
              </a:rPr>
              <a:t>Visualization: </a:t>
            </a:r>
            <a:r>
              <a:rPr lang="en-US" sz="2600" b="1" dirty="0">
                <a:cs typeface="Segoe UI Semibold" panose="020B0702040204020203" pitchFamily="34" charset="0"/>
              </a:rPr>
              <a:t>Stacked bar chart</a:t>
            </a:r>
          </a:p>
          <a:p>
            <a:r>
              <a:rPr lang="en-US" sz="2600" b="1" u="sng" dirty="0">
                <a:solidFill>
                  <a:schemeClr val="tx1"/>
                </a:solidFill>
                <a:latin typeface="Segoe UI Semibold" panose="020B0702040204020203" pitchFamily="34" charset="0"/>
                <a:cs typeface="Segoe UI Semibold" panose="020B0702040204020203" pitchFamily="34" charset="0"/>
              </a:rPr>
              <a:t>Description: </a:t>
            </a:r>
            <a:r>
              <a:rPr lang="en-US" sz="2600" dirty="0">
                <a:solidFill>
                  <a:schemeClr val="tx1"/>
                </a:solidFill>
              </a:rPr>
              <a:t>this helps in understanding how product categories perform across various customer demographics and shopping behavior.</a:t>
            </a:r>
          </a:p>
          <a:p>
            <a:pPr marL="0" indent="0">
              <a:buNone/>
            </a:pPr>
            <a:r>
              <a:rPr lang="en-US" sz="2600" dirty="0">
                <a:solidFill>
                  <a:schemeClr val="tx1"/>
                </a:solidFill>
              </a:rPr>
              <a:t> </a:t>
            </a:r>
          </a:p>
          <a:p>
            <a:pPr>
              <a:buFont typeface="Wingdings" panose="05000000000000000000" pitchFamily="2" charset="2"/>
              <a:buChar char="v"/>
            </a:pPr>
            <a:r>
              <a:rPr lang="en-US" sz="2600" dirty="0">
                <a:solidFill>
                  <a:schemeClr val="tx1"/>
                </a:solidFill>
                <a:latin typeface="Segoe UI Semibold" panose="020B0702040204020203" pitchFamily="34" charset="0"/>
                <a:cs typeface="Segoe UI Semibold" panose="020B0702040204020203" pitchFamily="34" charset="0"/>
              </a:rPr>
              <a:t>How is the shopping distribution according to age?</a:t>
            </a:r>
          </a:p>
          <a:p>
            <a:r>
              <a:rPr lang="en-US" sz="2600" b="1" u="sng" dirty="0">
                <a:solidFill>
                  <a:schemeClr val="tx1"/>
                </a:solidFill>
                <a:latin typeface="Segoe UI Semibold" panose="020B0702040204020203" pitchFamily="34" charset="0"/>
                <a:cs typeface="Segoe UI Semibold" panose="020B0702040204020203" pitchFamily="34" charset="0"/>
              </a:rPr>
              <a:t>Visualization: </a:t>
            </a:r>
            <a:r>
              <a:rPr lang="en-US" sz="2600" b="1" dirty="0">
                <a:cs typeface="Segoe UI Semibold" panose="020B0702040204020203" pitchFamily="34" charset="0"/>
              </a:rPr>
              <a:t>Line chart</a:t>
            </a:r>
          </a:p>
          <a:p>
            <a:r>
              <a:rPr lang="en-US" sz="2600" b="1" u="sng" dirty="0">
                <a:solidFill>
                  <a:schemeClr val="tx1"/>
                </a:solidFill>
                <a:latin typeface="Segoe UI Semibold" panose="020B0702040204020203" pitchFamily="34" charset="0"/>
                <a:cs typeface="Segoe UI Semibold" panose="020B0702040204020203" pitchFamily="34" charset="0"/>
              </a:rPr>
              <a:t>Description: </a:t>
            </a:r>
            <a:r>
              <a:rPr lang="en-US" sz="2600" dirty="0">
                <a:solidFill>
                  <a:schemeClr val="tx1"/>
                </a:solidFill>
              </a:rPr>
              <a:t>a line chart that shows how shopping behavior various across different age groups these chart clearly highlights which age group spends more time and money on the shopping it's helping us understand which demography is the most engaged.</a:t>
            </a:r>
          </a:p>
          <a:p>
            <a:pPr marL="0" indent="0">
              <a:buNone/>
            </a:pPr>
            <a:r>
              <a:rPr lang="en-US" sz="2600" dirty="0">
                <a:solidFill>
                  <a:schemeClr val="tx1"/>
                </a:solidFill>
              </a:rPr>
              <a:t> </a:t>
            </a:r>
          </a:p>
          <a:p>
            <a:pPr>
              <a:buFont typeface="Wingdings" panose="05000000000000000000" pitchFamily="2" charset="2"/>
              <a:buChar char="v"/>
            </a:pPr>
            <a:r>
              <a:rPr lang="en-US" sz="2600" dirty="0">
                <a:solidFill>
                  <a:schemeClr val="tx1"/>
                </a:solidFill>
                <a:latin typeface="Segoe UI Semibold" panose="020B0702040204020203" pitchFamily="34" charset="0"/>
                <a:cs typeface="Segoe UI Semibold" panose="020B0702040204020203" pitchFamily="34" charset="0"/>
              </a:rPr>
              <a:t>Which age cat did we sell more products to?</a:t>
            </a:r>
          </a:p>
          <a:p>
            <a:r>
              <a:rPr lang="en-US" sz="2600" b="1" u="sng" dirty="0">
                <a:solidFill>
                  <a:schemeClr val="tx1"/>
                </a:solidFill>
                <a:latin typeface="Segoe UI Semibold" panose="020B0702040204020203" pitchFamily="34" charset="0"/>
                <a:cs typeface="Segoe UI Semibold" panose="020B0702040204020203" pitchFamily="34" charset="0"/>
              </a:rPr>
              <a:t>Visualization: </a:t>
            </a:r>
            <a:r>
              <a:rPr lang="en-US" sz="2600" b="1" dirty="0"/>
              <a:t>Stacked column chart</a:t>
            </a:r>
            <a:endParaRPr lang="en-US" sz="2600" b="1" u="sng" dirty="0">
              <a:solidFill>
                <a:schemeClr val="tx1"/>
              </a:solidFill>
              <a:latin typeface="Segoe UI Semibold" panose="020B0702040204020203" pitchFamily="34" charset="0"/>
              <a:cs typeface="Segoe UI Semibold" panose="020B0702040204020203" pitchFamily="34" charset="0"/>
            </a:endParaRPr>
          </a:p>
          <a:p>
            <a:r>
              <a:rPr lang="en-US" sz="2600" b="1" u="sng" dirty="0">
                <a:solidFill>
                  <a:schemeClr val="tx1"/>
                </a:solidFill>
                <a:latin typeface="Segoe UI Semibold" panose="020B0702040204020203" pitchFamily="34" charset="0"/>
                <a:cs typeface="Segoe UI Semibold" panose="020B0702040204020203" pitchFamily="34" charset="0"/>
              </a:rPr>
              <a:t>Description: </a:t>
            </a:r>
            <a:r>
              <a:rPr lang="en-US" sz="2600" dirty="0">
                <a:solidFill>
                  <a:schemeClr val="tx1"/>
                </a:solidFill>
              </a:rPr>
              <a:t>a column chart that displays product sales by age group this visualization clearly shows which age category had the highest purchase volume helping us identify our most active customer segment</a:t>
            </a:r>
            <a:endParaRPr lang="en-US" sz="2600" dirty="0">
              <a:solidFill>
                <a:schemeClr val="tx1"/>
              </a:solidFill>
              <a:latin typeface="Segoe UI Semibold" panose="020B0702040204020203" pitchFamily="34" charset="0"/>
              <a:cs typeface="Segoe UI Semibold" panose="020B0702040204020203" pitchFamily="34" charset="0"/>
            </a:endParaRPr>
          </a:p>
          <a:p>
            <a:pPr marL="0" indent="0">
              <a:buNone/>
            </a:pPr>
            <a:br>
              <a:rPr lang="en-US" dirty="0"/>
            </a:br>
            <a:endParaRPr lang="en-US" sz="3200" dirty="0"/>
          </a:p>
          <a:p>
            <a:endParaRPr lang="en-US" dirty="0"/>
          </a:p>
        </p:txBody>
      </p:sp>
    </p:spTree>
    <p:extLst>
      <p:ext uri="{BB962C8B-B14F-4D97-AF65-F5344CB8AC3E}">
        <p14:creationId xmlns:p14="http://schemas.microsoft.com/office/powerpoint/2010/main" val="3424885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42A8C5-24A5-4DEF-9BA5-83917A41F747}"/>
              </a:ext>
            </a:extLst>
          </p:cNvPr>
          <p:cNvSpPr>
            <a:spLocks noGrp="1"/>
          </p:cNvSpPr>
          <p:nvPr>
            <p:ph idx="1"/>
          </p:nvPr>
        </p:nvSpPr>
        <p:spPr>
          <a:xfrm>
            <a:off x="838200" y="221942"/>
            <a:ext cx="10515600" cy="5362111"/>
          </a:xfrm>
        </p:spPr>
        <p:txBody>
          <a:bodyPr>
            <a:normAutofit fontScale="25000" lnSpcReduction="20000"/>
          </a:bodyPr>
          <a:lstStyle/>
          <a:p>
            <a:pPr>
              <a:buFont typeface="Wingdings" panose="05000000000000000000" pitchFamily="2" charset="2"/>
              <a:buChar char="v"/>
            </a:pPr>
            <a:r>
              <a:rPr lang="en-US" sz="6400" dirty="0">
                <a:latin typeface="Segoe UI Semibold" panose="020B0702040204020203" pitchFamily="34" charset="0"/>
                <a:cs typeface="Segoe UI Semibold" panose="020B0702040204020203" pitchFamily="34" charset="0"/>
              </a:rPr>
              <a:t>Which age cat generated more revenue?</a:t>
            </a:r>
          </a:p>
          <a:p>
            <a:r>
              <a:rPr lang="en-US" sz="6400" b="1" u="sng" dirty="0">
                <a:solidFill>
                  <a:schemeClr val="tx1"/>
                </a:solidFill>
                <a:latin typeface="Segoe UI Semibold" panose="020B0702040204020203" pitchFamily="34" charset="0"/>
                <a:cs typeface="Segoe UI Semibold" panose="020B0702040204020203" pitchFamily="34" charset="0"/>
              </a:rPr>
              <a:t>Visualization: </a:t>
            </a:r>
            <a:r>
              <a:rPr lang="en-US" sz="6400" b="1" dirty="0"/>
              <a:t>Stacked column chart</a:t>
            </a:r>
            <a:endParaRPr lang="en-US" sz="6400" b="1" u="sng" dirty="0">
              <a:cs typeface="Segoe UI Semibold" panose="020B0702040204020203" pitchFamily="34" charset="0"/>
            </a:endParaRPr>
          </a:p>
          <a:p>
            <a:r>
              <a:rPr lang="en-US" sz="6400" b="1" u="sng" dirty="0">
                <a:solidFill>
                  <a:schemeClr val="tx1"/>
                </a:solidFill>
                <a:latin typeface="Segoe UI Semibold" panose="020B0702040204020203" pitchFamily="34" charset="0"/>
                <a:cs typeface="Segoe UI Semibold" panose="020B0702040204020203" pitchFamily="34" charset="0"/>
              </a:rPr>
              <a:t>Description: </a:t>
            </a:r>
            <a:r>
              <a:rPr lang="en-US" sz="6400" dirty="0"/>
              <a:t> column chart that clearly shows the revenue contribution for each age group This helps us identify which age category brings in the most revenue and can guide decisions around product focus and marketing strategy.</a:t>
            </a:r>
          </a:p>
          <a:p>
            <a:pPr marL="0" indent="0">
              <a:buNone/>
            </a:pPr>
            <a:endParaRPr lang="en-US" sz="6400" dirty="0"/>
          </a:p>
          <a:p>
            <a:pPr>
              <a:buFont typeface="Wingdings" panose="05000000000000000000" pitchFamily="2" charset="2"/>
              <a:buChar char="v"/>
            </a:pPr>
            <a:r>
              <a:rPr lang="en-US" sz="6400" dirty="0">
                <a:solidFill>
                  <a:schemeClr val="tx1"/>
                </a:solidFill>
                <a:latin typeface="Segoe UI Semibold" panose="020B0702040204020203" pitchFamily="34" charset="0"/>
                <a:cs typeface="Segoe UI Semibold" panose="020B0702040204020203" pitchFamily="34" charset="0"/>
              </a:rPr>
              <a:t>Does the payment method have a relation with other columns?</a:t>
            </a:r>
          </a:p>
          <a:p>
            <a:r>
              <a:rPr lang="en-US" sz="6400" dirty="0"/>
              <a:t>To explore this I have created several charts that compare payment methods with other key dimensions </a:t>
            </a:r>
          </a:p>
          <a:p>
            <a:pPr marL="457200" indent="-457200">
              <a:buFont typeface="+mj-lt"/>
              <a:buAutoNum type="arabicPeriod"/>
            </a:pPr>
            <a:r>
              <a:rPr lang="en-US" sz="6400" dirty="0"/>
              <a:t>payment method by gender </a:t>
            </a:r>
          </a:p>
          <a:p>
            <a:pPr marL="457200" indent="-457200">
              <a:buFont typeface="+mj-lt"/>
              <a:buAutoNum type="arabicPeriod"/>
            </a:pPr>
            <a:r>
              <a:rPr lang="en-US" sz="6400" dirty="0"/>
              <a:t>payment method by age group </a:t>
            </a:r>
          </a:p>
          <a:p>
            <a:pPr marL="457200" indent="-457200">
              <a:buFont typeface="+mj-lt"/>
              <a:buAutoNum type="arabicPeriod"/>
            </a:pPr>
            <a:r>
              <a:rPr lang="en-US" sz="6400" dirty="0"/>
              <a:t>payment method by category </a:t>
            </a:r>
          </a:p>
          <a:p>
            <a:pPr marL="457200" indent="-457200">
              <a:buFont typeface="+mj-lt"/>
              <a:buAutoNum type="arabicPeriod"/>
            </a:pPr>
            <a:r>
              <a:rPr lang="en-US" sz="6400" dirty="0"/>
              <a:t>payment method by shopping mall </a:t>
            </a:r>
            <a:endParaRPr lang="en-US" sz="6400" dirty="0">
              <a:solidFill>
                <a:schemeClr val="tx1"/>
              </a:solidFill>
              <a:latin typeface="Segoe UI Semibold" panose="020B0702040204020203" pitchFamily="34" charset="0"/>
              <a:cs typeface="Segoe UI Semibold" panose="020B0702040204020203" pitchFamily="34" charset="0"/>
            </a:endParaRPr>
          </a:p>
          <a:p>
            <a:pPr marL="0" indent="0">
              <a:buNone/>
            </a:pPr>
            <a:r>
              <a:rPr lang="en-US" sz="6400" b="1" u="sng" dirty="0">
                <a:solidFill>
                  <a:schemeClr val="tx1"/>
                </a:solidFill>
                <a:latin typeface="Segoe UI Semibold" panose="020B0702040204020203" pitchFamily="34" charset="0"/>
                <a:cs typeface="Segoe UI Semibold" panose="020B0702040204020203" pitchFamily="34" charset="0"/>
              </a:rPr>
              <a:t>Visualization: </a:t>
            </a:r>
            <a:r>
              <a:rPr lang="en-US" sz="6400" b="1" dirty="0">
                <a:latin typeface="+mj-lt"/>
                <a:cs typeface="Segoe UI Semibold" panose="020B0702040204020203" pitchFamily="34" charset="0"/>
              </a:rPr>
              <a:t>Clustered bar chart</a:t>
            </a:r>
            <a:br>
              <a:rPr lang="en-US" sz="6400" dirty="0"/>
            </a:br>
            <a:r>
              <a:rPr lang="en-US" sz="6400" b="1" u="sng" dirty="0">
                <a:solidFill>
                  <a:schemeClr val="tx1"/>
                </a:solidFill>
                <a:latin typeface="Segoe UI Semibold" panose="020B0702040204020203" pitchFamily="34" charset="0"/>
                <a:cs typeface="Segoe UI Semibold" panose="020B0702040204020203" pitchFamily="34" charset="0"/>
              </a:rPr>
              <a:t>Description: </a:t>
            </a:r>
            <a:r>
              <a:rPr lang="en-US" sz="6400" dirty="0"/>
              <a:t>This comparisons help us understand if certain customer group prefer specific payment methods which can guide decisions related to transaction options and customer experiences.</a:t>
            </a:r>
          </a:p>
          <a:p>
            <a:pPr marL="0" indent="0">
              <a:buNone/>
            </a:pPr>
            <a:endParaRPr lang="en-US" sz="6400" dirty="0"/>
          </a:p>
          <a:p>
            <a:pPr>
              <a:buFont typeface="Wingdings" panose="05000000000000000000" pitchFamily="2" charset="2"/>
              <a:buChar char="v"/>
            </a:pPr>
            <a:r>
              <a:rPr lang="en-US" sz="6400" dirty="0">
                <a:solidFill>
                  <a:schemeClr val="tx1"/>
                </a:solidFill>
                <a:latin typeface="Segoe UI Semibold" panose="020B0702040204020203" pitchFamily="34" charset="0"/>
                <a:cs typeface="Segoe UI Semibold" panose="020B0702040204020203" pitchFamily="34" charset="0"/>
              </a:rPr>
              <a:t>How is the distribution of the payment method?</a:t>
            </a:r>
            <a:endParaRPr lang="en-US" sz="6400" b="1" u="sng" dirty="0">
              <a:solidFill>
                <a:schemeClr val="tx1"/>
              </a:solidFill>
              <a:latin typeface="Segoe UI Semibold" panose="020B0702040204020203" pitchFamily="34" charset="0"/>
              <a:cs typeface="Segoe UI Semibold" panose="020B0702040204020203" pitchFamily="34" charset="0"/>
            </a:endParaRPr>
          </a:p>
          <a:p>
            <a:r>
              <a:rPr lang="en-US" sz="6400" b="1" u="sng" dirty="0">
                <a:solidFill>
                  <a:schemeClr val="tx1"/>
                </a:solidFill>
                <a:latin typeface="Segoe UI Semibold" panose="020B0702040204020203" pitchFamily="34" charset="0"/>
                <a:cs typeface="Segoe UI Semibold" panose="020B0702040204020203" pitchFamily="34" charset="0"/>
              </a:rPr>
              <a:t>Visualization: </a:t>
            </a:r>
            <a:r>
              <a:rPr lang="en-US" sz="6400" b="1" dirty="0">
                <a:cs typeface="Segoe UI Semibold" panose="020B0702040204020203" pitchFamily="34" charset="0"/>
              </a:rPr>
              <a:t>Pie chart</a:t>
            </a:r>
          </a:p>
          <a:p>
            <a:r>
              <a:rPr lang="en-US" sz="6400" b="1" u="sng" dirty="0">
                <a:solidFill>
                  <a:schemeClr val="tx1"/>
                </a:solidFill>
                <a:latin typeface="Segoe UI Semibold" panose="020B0702040204020203" pitchFamily="34" charset="0"/>
                <a:cs typeface="Segoe UI Semibold" panose="020B0702040204020203" pitchFamily="34" charset="0"/>
              </a:rPr>
              <a:t>Description: </a:t>
            </a:r>
            <a:r>
              <a:rPr lang="en-US" sz="6400" dirty="0">
                <a:solidFill>
                  <a:schemeClr val="tx1"/>
                </a:solidFill>
              </a:rPr>
              <a:t>a pie chart that shows the proportion of each payment method used makes it easy to see which payment of shares are most popular among customers</a:t>
            </a:r>
            <a:endParaRPr lang="en-US" sz="6400" b="1" u="sng" dirty="0">
              <a:solidFill>
                <a:schemeClr val="tx1"/>
              </a:solidFill>
              <a:latin typeface="Segoe UI Semibold" panose="020B0702040204020203" pitchFamily="34" charset="0"/>
              <a:cs typeface="Segoe UI Semibold" panose="020B0702040204020203" pitchFamily="34" charset="0"/>
            </a:endParaRPr>
          </a:p>
          <a:p>
            <a:endParaRPr lang="en-US" dirty="0"/>
          </a:p>
          <a:p>
            <a:pPr marL="0" indent="0">
              <a:buNone/>
            </a:pPr>
            <a:br>
              <a:rPr lang="en-US" dirty="0"/>
            </a:br>
            <a:endParaRPr lang="en-US" sz="3200" dirty="0"/>
          </a:p>
          <a:p>
            <a:endParaRPr lang="en-US" dirty="0"/>
          </a:p>
        </p:txBody>
      </p:sp>
    </p:spTree>
    <p:extLst>
      <p:ext uri="{BB962C8B-B14F-4D97-AF65-F5344CB8AC3E}">
        <p14:creationId xmlns:p14="http://schemas.microsoft.com/office/powerpoint/2010/main" val="5120668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267</TotalTime>
  <Words>515</Words>
  <Application>Microsoft Office PowerPoint</Application>
  <PresentationFormat>Widescreen</PresentationFormat>
  <Paragraphs>59</Paragraphs>
  <Slides>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Arial Rounded MT Bold</vt:lpstr>
      <vt:lpstr>Century Gothic</vt:lpstr>
      <vt:lpstr>Segoe UI Black</vt:lpstr>
      <vt:lpstr>Segoe UI Semibold</vt:lpstr>
      <vt:lpstr>Wingdings</vt:lpstr>
      <vt:lpstr>Wingdings 3</vt:lpstr>
      <vt:lpstr>Ion</vt:lpstr>
      <vt:lpstr>STEPS IN PROJECT </vt:lpstr>
      <vt:lpstr>Customer Segmentation Analysis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Segmentation Analysis</dc:title>
  <dc:creator>SHILPA</dc:creator>
  <cp:lastModifiedBy>SHILPA</cp:lastModifiedBy>
  <cp:revision>19</cp:revision>
  <dcterms:created xsi:type="dcterms:W3CDTF">2025-05-10T03:54:29Z</dcterms:created>
  <dcterms:modified xsi:type="dcterms:W3CDTF">2025-05-11T06:55:06Z</dcterms:modified>
</cp:coreProperties>
</file>